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1"/>
  </p:notesMasterIdLst>
  <p:handoutMasterIdLst>
    <p:handoutMasterId r:id="rId22"/>
  </p:handoutMasterIdLst>
  <p:sldIdLst>
    <p:sldId id="256" r:id="rId5"/>
    <p:sldId id="295" r:id="rId6"/>
    <p:sldId id="298" r:id="rId7"/>
    <p:sldId id="309" r:id="rId8"/>
    <p:sldId id="310" r:id="rId9"/>
    <p:sldId id="311" r:id="rId10"/>
    <p:sldId id="312" r:id="rId11"/>
    <p:sldId id="313" r:id="rId12"/>
    <p:sldId id="314" r:id="rId13"/>
    <p:sldId id="315" r:id="rId14"/>
    <p:sldId id="316" r:id="rId15"/>
    <p:sldId id="317" r:id="rId16"/>
    <p:sldId id="318" r:id="rId17"/>
    <p:sldId id="319" r:id="rId18"/>
    <p:sldId id="320" r:id="rId19"/>
    <p:sldId id="275" r:id="rId20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32" y="149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5C065-7973-41A8-A2CC-441A8BA3384C}" type="datetime1">
              <a:rPr lang="en-GB" smtClean="0"/>
              <a:t>12/02/2025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87A586-3225-45EC-B90F-43F9676D14C2}" type="datetime1">
              <a:rPr lang="en-GB" smtClean="0"/>
              <a:pPr/>
              <a:t>12/02/2025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2334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2094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7332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75279" y="6356350"/>
            <a:ext cx="1808712" cy="365125"/>
          </a:xfrm>
        </p:spPr>
        <p:txBody>
          <a:bodyPr rtlCol="0"/>
          <a:lstStyle>
            <a:lvl1pPr>
              <a:defRPr sz="900"/>
            </a:lvl1pPr>
          </a:lstStyle>
          <a:p>
            <a:pPr algn="l" rtl="0"/>
            <a:r>
              <a:rPr lang="en-GB" noProof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8749" y="1361938"/>
            <a:ext cx="6765925" cy="496888"/>
          </a:xfrm>
        </p:spPr>
        <p:txBody>
          <a:bodyPr rtlCol="0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286002"/>
            <a:ext cx="6094270" cy="3542143"/>
          </a:xfrm>
        </p:spPr>
        <p:txBody>
          <a:bodyPr rtlCol="0"/>
          <a:lstStyle/>
          <a:p>
            <a:pPr rtl="0"/>
            <a:r>
              <a:rPr lang="en-US" noProof="0"/>
              <a:t>Click icon to add chart</a:t>
            </a:r>
            <a:endParaRPr lang="en-GB" noProof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58125" y="2284624"/>
            <a:ext cx="3147332" cy="306388"/>
          </a:xfrm>
        </p:spPr>
        <p:txBody>
          <a:bodyPr rtlCol="0"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858125" y="2779713"/>
            <a:ext cx="3148013" cy="3095625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91003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7" name="SmartArt Placeholder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139084"/>
            <a:ext cx="10515600" cy="3695338"/>
          </a:xfrm>
        </p:spPr>
        <p:txBody>
          <a:bodyPr rtlCol="0"/>
          <a:lstStyle/>
          <a:p>
            <a:pPr rtl="0"/>
            <a:r>
              <a:rPr lang="en-US" noProof="0"/>
              <a:t>Click icon to add SmartArt graphic</a:t>
            </a:r>
            <a:endParaRPr lang="en-GB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11558" y="5084524"/>
            <a:ext cx="2196619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707607" y="5099206"/>
            <a:ext cx="2145049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lvl="1"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98271" y="5099206"/>
            <a:ext cx="213298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18152" y="5084524"/>
            <a:ext cx="2132984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19EE98D-9541-4F21-8952-3026DEF75E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AB843230-A4E3-4E21-AA93-998E28EB901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11391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3AE0369E-A275-4E5A-AE0F-B1F9A54DEDF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24377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CA3A81E-171B-4946-B8BA-B2F406CF093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79" r:id="rId13"/>
    <p:sldLayoutId id="2147483692" r:id="rId14"/>
    <p:sldLayoutId id="2147483681" r:id="rId15"/>
    <p:sldLayoutId id="2147483674" r:id="rId16"/>
    <p:sldLayoutId id="2147483675" r:id="rId17"/>
    <p:sldLayoutId id="2147483696" r:id="rId18"/>
    <p:sldLayoutId id="2147483677" r:id="rId19"/>
    <p:sldLayoutId id="2147483678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4434840"/>
            <a:ext cx="4941771" cy="1122202"/>
          </a:xfrm>
        </p:spPr>
        <p:txBody>
          <a:bodyPr rtlCol="0"/>
          <a:lstStyle/>
          <a:p>
            <a:pPr rtl="0"/>
            <a:r>
              <a:rPr lang="en-GB" dirty="0"/>
              <a:t>Artificial Labs technical task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/>
          <a:lstStyle/>
          <a:p>
            <a:pPr rtl="0"/>
            <a:r>
              <a:rPr lang="en-GB" dirty="0"/>
              <a:t>Valery (Galina) Gasparyan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19BF7-4085-89BB-A25C-11841AA1C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General Data Statistics</a:t>
            </a:r>
          </a:p>
        </p:txBody>
      </p:sp>
      <p:sp>
        <p:nvSpPr>
          <p:cNvPr id="3" name="SmartArt Placeholder 2">
            <a:extLst>
              <a:ext uri="{FF2B5EF4-FFF2-40B4-BE49-F238E27FC236}">
                <a16:creationId xmlns:a16="http://schemas.microsoft.com/office/drawing/2014/main" id="{987ABC73-7563-2A72-5974-9243A222129F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199" y="1690688"/>
            <a:ext cx="10400071" cy="1007023"/>
          </a:xfrm>
        </p:spPr>
        <p:txBody>
          <a:bodyPr>
            <a:noAutofit/>
          </a:bodyPr>
          <a:lstStyle/>
          <a:p>
            <a:r>
              <a:rPr lang="en-GB" sz="1800" dirty="0"/>
              <a:t>The dataset contains 1000 rows and 5 columns:</a:t>
            </a:r>
          </a:p>
          <a:p>
            <a:pPr lvl="1"/>
            <a:r>
              <a:rPr lang="en-GB" sz="1800" dirty="0"/>
              <a:t>Country, description, points, price, variety</a:t>
            </a:r>
          </a:p>
          <a:p>
            <a:r>
              <a:rPr lang="en-GB" sz="1800" dirty="0"/>
              <a:t>There are no missing values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EB757-DCA2-BAC0-BDFD-8E9C07BE4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3AF7D-24DA-76FD-31D3-2F5D27E26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09942-0B71-B2E7-6DDB-6626D2C1B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GB" noProof="0" smtClean="0"/>
              <a:t>2</a:t>
            </a:fld>
            <a:endParaRPr lang="en-GB" noProof="0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E74F914-B1DB-18C9-1995-398D3886FC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1612076"/>
              </p:ext>
            </p:extLst>
          </p:nvPr>
        </p:nvGraphicFramePr>
        <p:xfrm>
          <a:off x="2713703" y="3280786"/>
          <a:ext cx="6779754" cy="292608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249812">
                  <a:extLst>
                    <a:ext uri="{9D8B030D-6E8A-4147-A177-3AD203B41FA5}">
                      <a16:colId xmlns:a16="http://schemas.microsoft.com/office/drawing/2014/main" val="4198067090"/>
                    </a:ext>
                  </a:extLst>
                </a:gridCol>
                <a:gridCol w="2264971">
                  <a:extLst>
                    <a:ext uri="{9D8B030D-6E8A-4147-A177-3AD203B41FA5}">
                      <a16:colId xmlns:a16="http://schemas.microsoft.com/office/drawing/2014/main" val="1688556138"/>
                    </a:ext>
                  </a:extLst>
                </a:gridCol>
                <a:gridCol w="2264971">
                  <a:extLst>
                    <a:ext uri="{9D8B030D-6E8A-4147-A177-3AD203B41FA5}">
                      <a16:colId xmlns:a16="http://schemas.microsoft.com/office/drawing/2014/main" val="85137480"/>
                    </a:ext>
                  </a:extLst>
                </a:gridCol>
              </a:tblGrid>
              <a:tr h="313144">
                <a:tc>
                  <a:txBody>
                    <a:bodyPr/>
                    <a:lstStyle/>
                    <a:p>
                      <a:pPr algn="r" fontAlgn="ctr"/>
                      <a:r>
                        <a:rPr lang="en-GB" b="1" dirty="0">
                          <a:effectLst/>
                        </a:rPr>
                        <a:t>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dirty="0">
                          <a:effectLst/>
                        </a:rPr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dirty="0">
                          <a:effectLst/>
                        </a:rPr>
                        <a:t>1000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8564375"/>
                  </a:ext>
                </a:extLst>
              </a:tr>
              <a:tr h="313144">
                <a:tc>
                  <a:txBody>
                    <a:bodyPr/>
                    <a:lstStyle/>
                    <a:p>
                      <a:pPr algn="r" fontAlgn="ctr"/>
                      <a:r>
                        <a:rPr lang="en-GB" b="1">
                          <a:effectLst/>
                        </a:rPr>
                        <a:t>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dirty="0">
                          <a:effectLst/>
                        </a:rPr>
                        <a:t>87.81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dirty="0">
                          <a:effectLst/>
                        </a:rPr>
                        <a:t>33.36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349356"/>
                  </a:ext>
                </a:extLst>
              </a:tr>
              <a:tr h="313144">
                <a:tc>
                  <a:txBody>
                    <a:bodyPr/>
                    <a:lstStyle/>
                    <a:p>
                      <a:pPr algn="r" fontAlgn="ctr"/>
                      <a:r>
                        <a:rPr lang="en-GB" b="1">
                          <a:effectLst/>
                        </a:rPr>
                        <a:t>std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dirty="0">
                          <a:effectLst/>
                        </a:rPr>
                        <a:t>3.37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dirty="0">
                          <a:effectLst/>
                        </a:rPr>
                        <a:t>28.63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4892020"/>
                  </a:ext>
                </a:extLst>
              </a:tr>
              <a:tr h="313144">
                <a:tc>
                  <a:txBody>
                    <a:bodyPr/>
                    <a:lstStyle/>
                    <a:p>
                      <a:pPr algn="r" fontAlgn="ctr"/>
                      <a:r>
                        <a:rPr lang="en-GB" b="1">
                          <a:effectLst/>
                        </a:rPr>
                        <a:t>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dirty="0">
                          <a:effectLst/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dirty="0">
                          <a:effectLst/>
                        </a:rPr>
                        <a:t>6.00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6541247"/>
                  </a:ext>
                </a:extLst>
              </a:tr>
              <a:tr h="313144">
                <a:tc>
                  <a:txBody>
                    <a:bodyPr/>
                    <a:lstStyle/>
                    <a:p>
                      <a:pPr algn="r" fontAlgn="ctr"/>
                      <a:r>
                        <a:rPr lang="en-GB" b="1">
                          <a:effectLst/>
                        </a:rPr>
                        <a:t>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dirty="0">
                          <a:effectLst/>
                        </a:rPr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dirty="0">
                          <a:effectLst/>
                        </a:rPr>
                        <a:t>18.00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1965953"/>
                  </a:ext>
                </a:extLst>
              </a:tr>
              <a:tr h="313144">
                <a:tc>
                  <a:txBody>
                    <a:bodyPr/>
                    <a:lstStyle/>
                    <a:p>
                      <a:pPr algn="r" fontAlgn="ctr"/>
                      <a:r>
                        <a:rPr lang="en-GB" b="1">
                          <a:effectLst/>
                        </a:rPr>
                        <a:t>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dirty="0">
                          <a:effectLst/>
                        </a:rPr>
                        <a:t>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dirty="0">
                          <a:effectLst/>
                        </a:rPr>
                        <a:t>25.00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172309"/>
                  </a:ext>
                </a:extLst>
              </a:tr>
              <a:tr h="313144">
                <a:tc>
                  <a:txBody>
                    <a:bodyPr/>
                    <a:lstStyle/>
                    <a:p>
                      <a:pPr algn="r" fontAlgn="ctr"/>
                      <a:r>
                        <a:rPr lang="en-GB" b="1">
                          <a:effectLst/>
                        </a:rPr>
                        <a:t>75%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dirty="0">
                          <a:effectLst/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dirty="0">
                          <a:effectLst/>
                        </a:rPr>
                        <a:t>40.00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0667634"/>
                  </a:ext>
                </a:extLst>
              </a:tr>
              <a:tr h="313144">
                <a:tc>
                  <a:txBody>
                    <a:bodyPr/>
                    <a:lstStyle/>
                    <a:p>
                      <a:pPr algn="r" fontAlgn="ctr"/>
                      <a:r>
                        <a:rPr lang="en-GB" b="1">
                          <a:effectLst/>
                        </a:rPr>
                        <a:t>max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dirty="0">
                          <a:effectLst/>
                        </a:rPr>
                        <a:t>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GB" dirty="0">
                          <a:effectLst/>
                        </a:rPr>
                        <a:t>463.00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4360139"/>
                  </a:ext>
                </a:extLst>
              </a:tr>
            </a:tbl>
          </a:graphicData>
        </a:graphic>
      </p:graphicFrame>
      <p:sp>
        <p:nvSpPr>
          <p:cNvPr id="14" name="SmartArt Placeholder 2">
            <a:extLst>
              <a:ext uri="{FF2B5EF4-FFF2-40B4-BE49-F238E27FC236}">
                <a16:creationId xmlns:a16="http://schemas.microsoft.com/office/drawing/2014/main" id="{F73DD379-5612-4A0D-8403-F8703EE8BD23}"/>
              </a:ext>
            </a:extLst>
          </p:cNvPr>
          <p:cNvSpPr txBox="1">
            <a:spLocks/>
          </p:cNvSpPr>
          <p:nvPr/>
        </p:nvSpPr>
        <p:spPr>
          <a:xfrm>
            <a:off x="3808771" y="2868965"/>
            <a:ext cx="4574458" cy="4035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2000" dirty="0"/>
              <a:t>Summary Statistics for points and price</a:t>
            </a:r>
          </a:p>
        </p:txBody>
      </p:sp>
    </p:spTree>
    <p:extLst>
      <p:ext uri="{BB962C8B-B14F-4D97-AF65-F5344CB8AC3E}">
        <p14:creationId xmlns:p14="http://schemas.microsoft.com/office/powerpoint/2010/main" val="2383195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C227B-4642-E5DE-CAD0-802E1CC7E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white graph">
            <a:extLst>
              <a:ext uri="{FF2B5EF4-FFF2-40B4-BE49-F238E27FC236}">
                <a16:creationId xmlns:a16="http://schemas.microsoft.com/office/drawing/2014/main" id="{DEBDBBDA-3FC1-42AA-A106-7E0AF6450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362" y="3429000"/>
            <a:ext cx="7153275" cy="31610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847633-869E-C6EA-3CBC-D926E5DCA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Countries distribution</a:t>
            </a:r>
          </a:p>
        </p:txBody>
      </p:sp>
      <p:sp>
        <p:nvSpPr>
          <p:cNvPr id="3" name="SmartArt Placeholder 2">
            <a:extLst>
              <a:ext uri="{FF2B5EF4-FFF2-40B4-BE49-F238E27FC236}">
                <a16:creationId xmlns:a16="http://schemas.microsoft.com/office/drawing/2014/main" id="{8CF3C013-B869-DCA8-446E-50D8C6DE8CD2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1690688"/>
            <a:ext cx="10515600" cy="3695338"/>
          </a:xfrm>
        </p:spPr>
        <p:txBody>
          <a:bodyPr>
            <a:normAutofit/>
          </a:bodyPr>
          <a:lstStyle/>
          <a:p>
            <a:r>
              <a:rPr lang="en-GB" sz="1800" dirty="0"/>
              <a:t>Objective: To explore the distribution of countries in the dataset and identify any bias.</a:t>
            </a:r>
          </a:p>
          <a:p>
            <a:r>
              <a:rPr lang="en-GB" sz="1800" dirty="0"/>
              <a:t>Findings: </a:t>
            </a:r>
          </a:p>
          <a:p>
            <a:pPr lvl="1"/>
            <a:r>
              <a:rPr lang="en-GB" sz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 is visible from the bar chart that US wines are much more prevalent in the dataset in comparison to Spain/France/Italy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GB" sz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 a result the dataset would require oversampling (SMOTE) to be performed on underrepresented countries during the training process of the model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GB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F8A2E-53C0-9A90-477F-CFD6471A4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DCCED-6B57-F51C-0AEE-1435EDFCC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15228-ED95-665E-3868-172BBC352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GB" noProof="0" smtClean="0"/>
              <a:t>3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151748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B6CCB-BE8E-08A5-5BC9-4CCACCD0B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6ABD0-E8BB-3DBB-82B8-BF3618895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points distribution</a:t>
            </a:r>
          </a:p>
        </p:txBody>
      </p:sp>
      <p:sp>
        <p:nvSpPr>
          <p:cNvPr id="3" name="SmartArt Placeholder 2">
            <a:extLst>
              <a:ext uri="{FF2B5EF4-FFF2-40B4-BE49-F238E27FC236}">
                <a16:creationId xmlns:a16="http://schemas.microsoft.com/office/drawing/2014/main" id="{653D2405-D5D5-9E7A-9A73-52D95EA507D4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1690688"/>
            <a:ext cx="10515600" cy="1426138"/>
          </a:xfrm>
        </p:spPr>
        <p:txBody>
          <a:bodyPr>
            <a:normAutofit fontScale="92500" lnSpcReduction="20000"/>
          </a:bodyPr>
          <a:lstStyle/>
          <a:p>
            <a:r>
              <a:rPr lang="en-GB" sz="1800" dirty="0"/>
              <a:t>Objective: To explore the distribution of points and identify potential transformations.</a:t>
            </a:r>
          </a:p>
          <a:p>
            <a:r>
              <a:rPr lang="en-GB" sz="1800" dirty="0"/>
              <a:t>Findings: </a:t>
            </a:r>
          </a:p>
          <a:p>
            <a:pPr lvl="1"/>
            <a:r>
              <a:rPr lang="en-GB" sz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for points seems normally distributed</a:t>
            </a:r>
          </a:p>
          <a:p>
            <a:pPr lvl="1"/>
            <a:r>
              <a:rPr lang="en-GB" sz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points start at 80 and therefore would require normalisation for future use in the model</a:t>
            </a:r>
          </a:p>
          <a:p>
            <a:pPr lvl="1"/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 can see normalised distribution in Wine_EDA notebook</a:t>
            </a:r>
          </a:p>
          <a:p>
            <a:pPr lvl="1"/>
            <a:endParaRPr lang="en-GB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C08A2-0F83-1566-F74A-D22181051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B2C47-2309-2669-840D-14B87A0EA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C2C1D-7372-B792-601A-52CDBED9A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GB" noProof="0" smtClean="0"/>
              <a:t>4</a:t>
            </a:fld>
            <a:endParaRPr lang="en-GB" noProof="0"/>
          </a:p>
        </p:txBody>
      </p:sp>
      <p:pic>
        <p:nvPicPr>
          <p:cNvPr id="9" name="Picture 8" descr="A graph with a blue bar graph&#10;&#10;AI-generated content may be incorrect.">
            <a:extLst>
              <a:ext uri="{FF2B5EF4-FFF2-40B4-BE49-F238E27FC236}">
                <a16:creationId xmlns:a16="http://schemas.microsoft.com/office/drawing/2014/main" id="{B1732835-35F8-0540-A425-FE1E8ADF1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9133" y="3197828"/>
            <a:ext cx="6393733" cy="3137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751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52337-3060-A7B6-5057-588A03940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omputer">
            <a:extLst>
              <a:ext uri="{FF2B5EF4-FFF2-40B4-BE49-F238E27FC236}">
                <a16:creationId xmlns:a16="http://schemas.microsoft.com/office/drawing/2014/main" id="{24FDC792-2FD2-2B8E-0BB9-9D89C4FD2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5960" y="1096791"/>
            <a:ext cx="6236417" cy="29267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DC6AF1-A74B-4BAF-95CE-09EE16273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Price distribution</a:t>
            </a:r>
          </a:p>
        </p:txBody>
      </p:sp>
      <p:sp>
        <p:nvSpPr>
          <p:cNvPr id="3" name="SmartArt Placeholder 2">
            <a:extLst>
              <a:ext uri="{FF2B5EF4-FFF2-40B4-BE49-F238E27FC236}">
                <a16:creationId xmlns:a16="http://schemas.microsoft.com/office/drawing/2014/main" id="{3E949BD6-4E0B-48AF-216D-0374D52BABF5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1690688"/>
            <a:ext cx="3399503" cy="4110344"/>
          </a:xfrm>
        </p:spPr>
        <p:txBody>
          <a:bodyPr>
            <a:normAutofit fontScale="92500" lnSpcReduction="10000"/>
          </a:bodyPr>
          <a:lstStyle/>
          <a:p>
            <a:r>
              <a:rPr lang="en-GB" sz="1800" dirty="0"/>
              <a:t>Objective: To explore the distribution of price and identify potential transformations.</a:t>
            </a:r>
          </a:p>
          <a:p>
            <a:r>
              <a:rPr lang="en-GB" sz="1800" dirty="0"/>
              <a:t>Findings: </a:t>
            </a:r>
          </a:p>
          <a:p>
            <a:pPr lvl="1"/>
            <a:r>
              <a:rPr lang="en-GB" sz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for price is positively skewed, therefore requires log-transformation</a:t>
            </a:r>
          </a:p>
          <a:p>
            <a:pPr lvl="1"/>
            <a:r>
              <a:rPr lang="en-GB" sz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After log transformation we get closer to normal distribution, however datapoints are still on a scale up to 6, so we require further normalisation</a:t>
            </a:r>
          </a:p>
          <a:p>
            <a:pPr lvl="1"/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 can view normalized distribution in the Wine_EDA notebook</a:t>
            </a:r>
          </a:p>
          <a:p>
            <a:pPr lvl="1"/>
            <a:endParaRPr lang="en-GB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7D304-B19F-283B-15B7-6282A9AEA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B1931-D87D-56C5-57DB-F08485A8C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BD033-23AF-C2CD-2F97-6038F4E5D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GB" noProof="0" smtClean="0"/>
              <a:t>5</a:t>
            </a:fld>
            <a:endParaRPr lang="en-GB" noProof="0"/>
          </a:p>
        </p:txBody>
      </p:sp>
      <p:pic>
        <p:nvPicPr>
          <p:cNvPr id="11" name="Picture 10" descr="A graph of a graph">
            <a:extLst>
              <a:ext uri="{FF2B5EF4-FFF2-40B4-BE49-F238E27FC236}">
                <a16:creationId xmlns:a16="http://schemas.microsoft.com/office/drawing/2014/main" id="{0260D2B0-4D4C-0D18-A9F7-37785E378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5960" y="3794746"/>
            <a:ext cx="6265915" cy="2926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982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A6578-BD4D-44E3-A0C9-2F7C71478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screenshot of a computer screen">
            <a:extLst>
              <a:ext uri="{FF2B5EF4-FFF2-40B4-BE49-F238E27FC236}">
                <a16:creationId xmlns:a16="http://schemas.microsoft.com/office/drawing/2014/main" id="{31F7487E-94B0-58CB-21A1-7BF1842500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9579" b="10689"/>
          <a:stretch/>
        </p:blipFill>
        <p:spPr>
          <a:xfrm>
            <a:off x="5873392" y="1155362"/>
            <a:ext cx="4792150" cy="29819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677ADF-3515-AE42-FC97-AB35CFFB4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Correlations</a:t>
            </a:r>
          </a:p>
        </p:txBody>
      </p:sp>
      <p:sp>
        <p:nvSpPr>
          <p:cNvPr id="3" name="SmartArt Placeholder 2">
            <a:extLst>
              <a:ext uri="{FF2B5EF4-FFF2-40B4-BE49-F238E27FC236}">
                <a16:creationId xmlns:a16="http://schemas.microsoft.com/office/drawing/2014/main" id="{D30A2991-C070-9FE2-CADD-287D7F43D068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1690688"/>
            <a:ext cx="3448665" cy="4346318"/>
          </a:xfrm>
        </p:spPr>
        <p:txBody>
          <a:bodyPr>
            <a:normAutofit/>
          </a:bodyPr>
          <a:lstStyle/>
          <a:p>
            <a:r>
              <a:rPr lang="en-GB" sz="1800" dirty="0"/>
              <a:t>Objective: Compare numeric columns for further feature engineering (and heatmap for variety).</a:t>
            </a:r>
          </a:p>
          <a:p>
            <a:r>
              <a:rPr lang="en-GB" sz="1800" dirty="0"/>
              <a:t>Findings: </a:t>
            </a:r>
          </a:p>
          <a:p>
            <a:pPr lvl="1"/>
            <a:r>
              <a:rPr lang="en-GB" sz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There is a moderate linear relationship between price and points (0.5)</a:t>
            </a:r>
          </a:p>
          <a:p>
            <a:pPr lvl="1"/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 relationship found with variety</a:t>
            </a:r>
          </a:p>
          <a:p>
            <a:pPr lvl="1"/>
            <a:endParaRPr lang="en-GB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8E62-7463-606F-2A13-1708BF8A8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01249-B1F9-834E-D0A7-4CF16DC89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C91B7-16D3-A44C-0B90-49A83B43C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GB" noProof="0" smtClean="0"/>
              <a:t>6</a:t>
            </a:fld>
            <a:endParaRPr lang="en-GB" noProof="0"/>
          </a:p>
        </p:txBody>
      </p:sp>
      <p:pic>
        <p:nvPicPr>
          <p:cNvPr id="8" name="Picture 7" descr="A graph of different columns">
            <a:extLst>
              <a:ext uri="{FF2B5EF4-FFF2-40B4-BE49-F238E27FC236}">
                <a16:creationId xmlns:a16="http://schemas.microsoft.com/office/drawing/2014/main" id="{AE9B67EE-7D66-42F7-FD63-A917CD5E9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927" y="3909684"/>
            <a:ext cx="5970946" cy="256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500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84CEB-061C-E823-B866-C9B38A811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BDC68-4D20-B08F-75C2-79CD0A3B4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Feature engineering</a:t>
            </a:r>
          </a:p>
        </p:txBody>
      </p:sp>
      <p:sp>
        <p:nvSpPr>
          <p:cNvPr id="3" name="SmartArt Placeholder 2">
            <a:extLst>
              <a:ext uri="{FF2B5EF4-FFF2-40B4-BE49-F238E27FC236}">
                <a16:creationId xmlns:a16="http://schemas.microsoft.com/office/drawing/2014/main" id="{23DDFB6B-3B84-C976-1721-8918133B3A75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1690688"/>
            <a:ext cx="4943168" cy="4665662"/>
          </a:xfrm>
        </p:spPr>
        <p:txBody>
          <a:bodyPr>
            <a:normAutofit fontScale="92500" lnSpcReduction="10000"/>
          </a:bodyPr>
          <a:lstStyle/>
          <a:p>
            <a:r>
              <a:rPr lang="en-GB" sz="1800" dirty="0"/>
              <a:t>Objective: Since Price and Points have moderate correlation, we can combine them to produce new features.</a:t>
            </a:r>
          </a:p>
          <a:p>
            <a:r>
              <a:rPr lang="en-GB" sz="1800" dirty="0"/>
              <a:t>Value for Money: </a:t>
            </a:r>
          </a:p>
          <a:p>
            <a:pPr lvl="1"/>
            <a:r>
              <a:rPr lang="en-GB" sz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 dividing Points by Price we introduce a new variable “Value for Money”</a:t>
            </a:r>
          </a:p>
          <a:p>
            <a:pPr lvl="1"/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ratio can highlight wines that are highly rated but  inexpensive</a:t>
            </a:r>
          </a:p>
          <a:p>
            <a:r>
              <a:rPr lang="en-GB" sz="1800" dirty="0"/>
              <a:t>Findings:</a:t>
            </a:r>
          </a:p>
          <a:p>
            <a:pPr lvl="1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Countries have different profiles</a:t>
            </a:r>
          </a:p>
          <a:p>
            <a:pPr lvl="1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Spain has the best VFM since its median is the highest among all countries (i.e. Spanish wines provide generally higher quality for a lower price)</a:t>
            </a:r>
          </a:p>
          <a:p>
            <a:pPr lvl="1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 wines tend to be pricier relative to their quality</a:t>
            </a:r>
          </a:p>
          <a:p>
            <a:pPr lvl="1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view further findings in the Wine_EDA notebook</a:t>
            </a:r>
          </a:p>
          <a:p>
            <a:pPr lvl="1"/>
            <a:endParaRPr lang="en-GB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09DE9-D4DF-9118-5D46-8CA1F55DF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89E3A-2551-1B3D-1E10-BF39BD16B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F1ED4-78EC-4E02-EC99-4593AA02C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GB" noProof="0" smtClean="0"/>
              <a:t>7</a:t>
            </a:fld>
            <a:endParaRPr lang="en-GB" noProof="0"/>
          </a:p>
        </p:txBody>
      </p:sp>
      <p:pic>
        <p:nvPicPr>
          <p:cNvPr id="8" name="Picture 7" descr="A graph of different colored squares">
            <a:extLst>
              <a:ext uri="{FF2B5EF4-FFF2-40B4-BE49-F238E27FC236}">
                <a16:creationId xmlns:a16="http://schemas.microsoft.com/office/drawing/2014/main" id="{9AD6921C-B24E-130E-AFA4-4BDD3A979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3213" y="2172917"/>
            <a:ext cx="6111057" cy="3697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063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26F84-10E5-801E-D3A6-2F44BE1CA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3239C-C121-E941-FAFA-AA1BDA999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Feature engineering</a:t>
            </a:r>
          </a:p>
        </p:txBody>
      </p:sp>
      <p:sp>
        <p:nvSpPr>
          <p:cNvPr id="3" name="SmartArt Placeholder 2">
            <a:extLst>
              <a:ext uri="{FF2B5EF4-FFF2-40B4-BE49-F238E27FC236}">
                <a16:creationId xmlns:a16="http://schemas.microsoft.com/office/drawing/2014/main" id="{B3C42571-1AD8-4A41-27B8-CDAAC5DF3C7F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1690688"/>
            <a:ext cx="4943168" cy="4665662"/>
          </a:xfrm>
        </p:spPr>
        <p:txBody>
          <a:bodyPr>
            <a:normAutofit/>
          </a:bodyPr>
          <a:lstStyle/>
          <a:p>
            <a:r>
              <a:rPr lang="en-GB" sz="1800" dirty="0"/>
              <a:t>Points x Price: </a:t>
            </a:r>
          </a:p>
          <a:p>
            <a:pPr lvl="1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check the multiplication of these features</a:t>
            </a:r>
          </a:p>
          <a:p>
            <a:pPr lvl="1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will identify high price wines with high points vs cheap wines with small points</a:t>
            </a:r>
          </a:p>
          <a:p>
            <a:r>
              <a:rPr lang="en-GB" sz="1800" dirty="0"/>
              <a:t>Findings:</a:t>
            </a:r>
          </a:p>
          <a:p>
            <a:pPr lvl="1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Spain shows  the best value</a:t>
            </a:r>
          </a:p>
          <a:p>
            <a:pPr lvl="1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narrow and suggests less variability in pricing, indicating focus on affordability of the wine</a:t>
            </a:r>
          </a:p>
          <a:p>
            <a:pPr lvl="1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log transformed version was used and later normalized</a:t>
            </a:r>
          </a:p>
          <a:p>
            <a:r>
              <a:rPr lang="en-GB" sz="1800" dirty="0"/>
              <a:t>Variety:</a:t>
            </a:r>
          </a:p>
          <a:p>
            <a:pPr lvl="1"/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Variety was encoded and normalised</a:t>
            </a:r>
          </a:p>
          <a:p>
            <a:pPr lvl="1"/>
            <a:endParaRPr lang="en-GB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69C2C-3BA9-F8A2-23EC-56CD74A5C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430C1-A8F7-7280-E7BC-F099F05C1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09E3F-BCB0-30F2-CFFA-C27C82B07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GB" noProof="0" smtClean="0"/>
              <a:t>8</a:t>
            </a:fld>
            <a:endParaRPr lang="en-GB" noProof="0"/>
          </a:p>
        </p:txBody>
      </p:sp>
      <p:pic>
        <p:nvPicPr>
          <p:cNvPr id="9" name="Picture 8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FE97C006-3E92-C65B-B3F0-CD16B6A93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1368" y="2300748"/>
            <a:ext cx="6132896" cy="3009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182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0B943-20A4-744F-BD57-0938EB018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2CE6A-8D66-3FD2-1C39-428E52C81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Word clouds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EF515-EC28-66B2-3794-E79A6B1FE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BDB9B-86C5-61DA-248D-ACFB9D7C7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57B08-E054-DE7B-6230-CFD2E557D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GB" noProof="0" smtClean="0"/>
              <a:t>9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1623F6D-19E7-0E55-C35B-3DD95B8BE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598" y="1297398"/>
            <a:ext cx="4363059" cy="24863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B86C172-EF6C-1B8E-55D5-AA21B75AB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9330" y="1297398"/>
            <a:ext cx="4448796" cy="241968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590B26B-E63A-74D3-572A-65CE6B3947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7729" y="3841163"/>
            <a:ext cx="4448796" cy="245779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6914999-5B85-B541-9624-21534DC4A2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488" y="3831637"/>
            <a:ext cx="4391638" cy="24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153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A2F58-E558-67E9-B45F-5D001BC1A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6ADCC-9DB8-8778-AADE-47C79609C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Word clouds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676C7-32D8-71F9-44F0-1E0DC4E36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CEFF7-D72B-6ED1-26F3-DC5AD4379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76471-F267-0C8D-6BEB-332C0F964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GB" noProof="0" smtClean="0"/>
              <a:t>10</a:t>
            </a:fld>
            <a:endParaRPr lang="en-GB" noProof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20D2C1-1980-0C29-C71E-FF5FC352C4A7}"/>
              </a:ext>
            </a:extLst>
          </p:cNvPr>
          <p:cNvSpPr txBox="1"/>
          <p:nvPr/>
        </p:nvSpPr>
        <p:spPr>
          <a:xfrm>
            <a:off x="1002890" y="1484672"/>
            <a:ext cx="1001907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General words describing wines from each country: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Fruit, cherry, tannins, dry, acidity, oak, sweet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system-ui"/>
              </a:rPr>
              <a:t>US wines have a broader profile with mentions of oak and dry. This can come due to the prevalence of US wines within the data, which gives a wider spread of comments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France: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Acidity, fruit, tannings, ripe, texture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system-ui"/>
              </a:rPr>
              <a:t>What distinguishes French wines is its bitterness that evidently comes from tannings, acidity and ripeness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Italy: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Fruit, aromas, cherry, spice, bright, fresh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system-ui"/>
              </a:rPr>
              <a:t>In comparison to Spanish wines, Italian wines are more spicy and fresh. Their palate also concentrates around cherry notes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Spain: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Aromas, fruit, nose, berry, sweet, good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system-ui"/>
              </a:rPr>
              <a:t>Spanish wine descriptions emphasise </a:t>
            </a:r>
            <a:r>
              <a:rPr lang="en-GB" b="0" i="0" dirty="0" err="1">
                <a:effectLst/>
                <a:latin typeface="system-ui"/>
              </a:rPr>
              <a:t>flavor</a:t>
            </a:r>
            <a:r>
              <a:rPr lang="en-GB" b="0" i="0" dirty="0">
                <a:effectLst/>
                <a:latin typeface="system-ui"/>
              </a:rPr>
              <a:t> complexity and aroma. words like sweet and berry give a closer description of the </a:t>
            </a:r>
            <a:r>
              <a:rPr lang="en-GB" b="0" i="0" dirty="0" err="1">
                <a:effectLst/>
                <a:latin typeface="system-ui"/>
              </a:rPr>
              <a:t>flavor</a:t>
            </a:r>
            <a:r>
              <a:rPr lang="en-GB" b="0" i="0" dirty="0">
                <a:effectLst/>
                <a:latin typeface="system-ui"/>
              </a:rPr>
              <a:t> palate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8540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3E24C-2301-40A9-9493-1925E57C0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8AD15-DFCF-38E1-1F86-63D7738C9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NLP Features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FAD1E-EBE1-91D5-5B2D-CF9FD6BFD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D161E-B23F-84CB-3A0E-1573434DA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AE1E9-37EE-D1A7-5B84-B478BA9B5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GB" noProof="0" smtClean="0"/>
              <a:t>11</a:t>
            </a:fld>
            <a:endParaRPr lang="en-GB" noProof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ED9BD4-790C-C2F9-7FB7-6474E8D08B6D}"/>
              </a:ext>
            </a:extLst>
          </p:cNvPr>
          <p:cNvSpPr txBox="1"/>
          <p:nvPr/>
        </p:nvSpPr>
        <p:spPr>
          <a:xfrm>
            <a:off x="1086464" y="1225689"/>
            <a:ext cx="1001907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NER locations extractions: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Some descriptions use location entities that can help with model classification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Those locations were extracted using spacy library and then encoded and normalized for use in the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TF-IDF vectorization: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Captures the importance of words by calculating their frequency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First text is pre-processed and stop words removed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Example features: acidity, aromas, black, cherry, dry etc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POS tagging: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From the description field we can also extract subtle language patterns. One of them are grammatical structures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In our case adjectives were extracted to describe the wine style, embeddings were applied later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Sentiment Analysis: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Positive statement may be related to some highly rated wines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Emotional tone was captured by polarity (emotional sentiment) and subjectivity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Word Embeddings: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I decided to also perform general word embeddings on the description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Later on 2 models were trained – one with adjectives and another with general embeddings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072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971B9-DA1D-0321-F958-A54B1EC5E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5CF24-C1BB-CB33-CDF3-81C8B1A82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LLM powered NLP Features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09A74-033A-E3D7-CDBD-D62DB4B06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5D078-5DB1-B325-4166-6F39C5E11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A3205-F14C-4730-8140-9754F79B1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GB" noProof="0" smtClean="0"/>
              <a:t>12</a:t>
            </a:fld>
            <a:endParaRPr lang="en-GB" noProof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ED1BFE-53A9-3725-D671-A55BF4F6D14B}"/>
              </a:ext>
            </a:extLst>
          </p:cNvPr>
          <p:cNvSpPr txBox="1"/>
          <p:nvPr/>
        </p:nvSpPr>
        <p:spPr>
          <a:xfrm>
            <a:off x="1086464" y="1225689"/>
            <a:ext cx="1001907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system-ui"/>
              </a:rPr>
              <a:t>Traditional methods (NLP) treat words independently and ignore context, while LLMs capture contextual relationships.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system-ui"/>
              </a:rPr>
              <a:t>Leveraging LLMs is useful in terms of efficiency, since they are pre-trained on massive datasets.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system-ui"/>
              </a:rPr>
              <a:t>It can optimise our features since it can handle several tasks at once - such as text classification, NER and semantic similarity all within one framework. 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system-ui"/>
              </a:rPr>
              <a:t>The models were taking time-out errors, those were taken care of</a:t>
            </a:r>
            <a:endParaRPr lang="en-GB" b="0" i="0" dirty="0">
              <a:effectLst/>
              <a:latin typeface="system-u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system-ui"/>
              </a:rPr>
              <a:t>Semantic Features: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>
                <a:latin typeface="system-ui"/>
              </a:rPr>
              <a:t>Gpt-4o-mini model was used to generate key attributes for wine from descriptions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>
                <a:latin typeface="system-ui"/>
              </a:rPr>
              <a:t>They were later transformed into binary features (has_cherry, has_oak), or categorical features (tanin_level)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system-ui"/>
              </a:rPr>
              <a:t>NER for locations: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>
                <a:latin typeface="system-ui"/>
              </a:rPr>
              <a:t>This feature is meant to replace the original NER conducted in the NLP only features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>
                <a:latin typeface="system-ui"/>
              </a:rPr>
              <a:t>In comparison to NLP feature, LLM has extracted more non-empty rows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system-ui"/>
              </a:rPr>
              <a:t>LLM summarization with TF-IDF: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>
                <a:latin typeface="system-ui"/>
              </a:rPr>
              <a:t>LLM can provide us with summaries of descriptions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>
                <a:latin typeface="system-ui"/>
              </a:rPr>
              <a:t>Those were later encoded and embedded using TF-IDF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81259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5A203-B6CE-B655-BDEF-FF880CB29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8F70D-0FCD-2B4A-8D0B-256E59F77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Modelling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0490E-0C26-6AFB-92DF-CB0C84ABE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4A81E-5F55-EE11-EA92-B1921D756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6A4F7-8F90-1DA7-C57D-5F292339C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GB" noProof="0" smtClean="0"/>
              <a:t>13</a:t>
            </a:fld>
            <a:endParaRPr lang="en-GB" noProof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AB5A3F-E562-5AA7-7211-4B797D193698}"/>
              </a:ext>
            </a:extLst>
          </p:cNvPr>
          <p:cNvSpPr txBox="1"/>
          <p:nvPr/>
        </p:nvSpPr>
        <p:spPr>
          <a:xfrm>
            <a:off x="1086464" y="1690688"/>
            <a:ext cx="1001907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The following 5 models were implemented: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/>
              <a:t>Basic EDA features only (no NLP or LLM powered NLP features)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/>
              <a:t>Adjectives embeddings NLP features model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/>
              <a:t>Word description embeddings NLP features model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/>
              <a:t>LLM powered NLP features model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/>
              <a:t>Auto-embedding model on adjectives NLP features (to substitute Word2Vec embeddings with Tensorflow layer embeddings)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You can view the results, evaluation and top 10 features for the models in the </a:t>
            </a:r>
            <a:r>
              <a:rPr lang="en-GB" dirty="0" err="1"/>
              <a:t>Wine_ML_models</a:t>
            </a:r>
            <a:r>
              <a:rPr lang="en-GB" dirty="0"/>
              <a:t> notebook</a:t>
            </a:r>
          </a:p>
        </p:txBody>
      </p:sp>
    </p:spTree>
    <p:extLst>
      <p:ext uri="{BB962C8B-B14F-4D97-AF65-F5344CB8AC3E}">
        <p14:creationId xmlns:p14="http://schemas.microsoft.com/office/powerpoint/2010/main" val="3915921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D0C99-302B-29FB-CCD7-D9D6C7A1B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3ED2B-D6F9-7C88-E950-7CE95E6CD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Models descriptions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ED3D2-6755-C92E-255B-8017FE7FA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57251-793A-BBD1-9B59-2944939AD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11BC3-8E35-7049-D9DB-1B392E6F7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GB" noProof="0" smtClean="0"/>
              <a:t>14</a:t>
            </a:fld>
            <a:endParaRPr lang="en-GB" noProof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45E649-D884-B71C-B543-92B42F2EFF35}"/>
              </a:ext>
            </a:extLst>
          </p:cNvPr>
          <p:cNvSpPr txBox="1"/>
          <p:nvPr/>
        </p:nvSpPr>
        <p:spPr>
          <a:xfrm>
            <a:off x="1086464" y="2136338"/>
            <a:ext cx="1001907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Main model: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/>
              <a:t>This model is a deep feedforward neural network designed for multi-class classification of wine origins.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/>
              <a:t>It consists of three dense layers (256 → 128 → 64 neurons) with </a:t>
            </a:r>
            <a:r>
              <a:rPr lang="en-GB" dirty="0" err="1"/>
              <a:t>ReLU</a:t>
            </a:r>
            <a:r>
              <a:rPr lang="en-GB" dirty="0"/>
              <a:t> activation, batch normalization for stability, and dropout (0.4 → 0.3 → 0.2) to prevent overfitting.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/>
              <a:t>The output layer uses </a:t>
            </a:r>
            <a:r>
              <a:rPr lang="en-GB" dirty="0" err="1"/>
              <a:t>softmax</a:t>
            </a:r>
            <a:r>
              <a:rPr lang="en-GB" dirty="0"/>
              <a:t> activation to predict one of four countries.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/>
              <a:t>The model is optimized using Adam (learning rate = 0.001) for adaptive learning and trained with sparse categorical </a:t>
            </a:r>
            <a:r>
              <a:rPr lang="en-GB" dirty="0" err="1"/>
              <a:t>crossentropy</a:t>
            </a:r>
            <a:r>
              <a:rPr lang="en-GB" dirty="0"/>
              <a:t>, which is well-suited for integer-encoded labels.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/>
              <a:t>Early stopping monitors validation loss, preventing unnecessary training if performance stops improving. </a:t>
            </a:r>
          </a:p>
        </p:txBody>
      </p:sp>
    </p:spTree>
    <p:extLst>
      <p:ext uri="{BB962C8B-B14F-4D97-AF65-F5344CB8AC3E}">
        <p14:creationId xmlns:p14="http://schemas.microsoft.com/office/powerpoint/2010/main" val="3726306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12C68-A735-7A1B-D033-B3E69B644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35076-6496-33E6-A300-D3699366C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Models descriptions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D0987-BB95-5AA4-C4BC-EF81DBBF7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EDAF6-1931-49FC-326B-F958ED5A7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AD459-74CF-EE61-B3F0-EE919F14C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n-GB" noProof="0" smtClean="0"/>
              <a:t>15</a:t>
            </a:fld>
            <a:endParaRPr lang="en-GB" noProof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DCC531-7342-0404-6693-771C31829F8C}"/>
              </a:ext>
            </a:extLst>
          </p:cNvPr>
          <p:cNvSpPr txBox="1"/>
          <p:nvPr/>
        </p:nvSpPr>
        <p:spPr>
          <a:xfrm>
            <a:off x="1086464" y="1523539"/>
            <a:ext cx="1001907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Auto-encoding model: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/>
              <a:t>This multi-input neural network combines text-based and numerical features to classify wine origins.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/>
              <a:t>The text input (adjectives) is processed through a </a:t>
            </a:r>
            <a:r>
              <a:rPr lang="en-GB" dirty="0" err="1"/>
              <a:t>TextVectorization</a:t>
            </a:r>
            <a:r>
              <a:rPr lang="en-GB" dirty="0"/>
              <a:t> layer, then embedded into a 128-dimensional space, and passed through a GRU layer (128 units) to capture sequential patterns.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/>
              <a:t>The numerical input (23 features) is processed using a dense layer (64 neurons, </a:t>
            </a:r>
            <a:r>
              <a:rPr lang="en-GB" dirty="0" err="1"/>
              <a:t>ReLU</a:t>
            </a:r>
            <a:r>
              <a:rPr lang="en-GB" dirty="0"/>
              <a:t> activation) with dropout (0.3) to prevent overfitting.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/>
              <a:t>The two feature types are then concatenated and passed through a fully connected layer (64 neurons, </a:t>
            </a:r>
            <a:r>
              <a:rPr lang="en-GB" dirty="0" err="1"/>
              <a:t>ReLU</a:t>
            </a:r>
            <a:r>
              <a:rPr lang="en-GB" dirty="0"/>
              <a:t>, dropout 0.3) before reaching the final </a:t>
            </a:r>
            <a:r>
              <a:rPr lang="en-GB" dirty="0" err="1"/>
              <a:t>softmax</a:t>
            </a:r>
            <a:r>
              <a:rPr lang="en-GB" dirty="0"/>
              <a:t> output layer for classification into one of four categories.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/>
              <a:t>The model is optimized using Adam (learning rate = 0.001) with sparse categorical </a:t>
            </a:r>
            <a:r>
              <a:rPr lang="en-GB" dirty="0" err="1"/>
              <a:t>crossentropy</a:t>
            </a:r>
            <a:r>
              <a:rPr lang="en-GB" dirty="0"/>
              <a:t> for multi-class classification.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/>
              <a:t>Early stopping monitors validation loss to prevent overfitting.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/>
              <a:t>This hybrid architecture effectively leverages both structured numerical data and unstructured text</a:t>
            </a:r>
          </a:p>
        </p:txBody>
      </p:sp>
    </p:spTree>
    <p:extLst>
      <p:ext uri="{BB962C8B-B14F-4D97-AF65-F5344CB8AC3E}">
        <p14:creationId xmlns:p14="http://schemas.microsoft.com/office/powerpoint/2010/main" val="17007668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FA191-5CCC-43CB-BD83-4F80ED362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875" y="1671639"/>
            <a:ext cx="5111750" cy="1204912"/>
          </a:xfrm>
        </p:spPr>
        <p:txBody>
          <a:bodyPr rtlCol="0"/>
          <a:lstStyle/>
          <a:p>
            <a:pPr rtl="0"/>
            <a:r>
              <a:rPr lang="en-GB" dirty="0"/>
              <a:t>Thanks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BBEAF-B516-45F4-9EF6-A9F651115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vert="horz" lIns="91440" tIns="45720" rIns="91440" bIns="45720" rtlCol="0" anchor="b">
            <a:noAutofit/>
          </a:bodyPr>
          <a:lstStyle/>
          <a:p>
            <a:pPr rtl="0"/>
            <a:r>
              <a:rPr lang="en-GB" sz="1800" dirty="0"/>
              <a:t>Thanks for allowing me to partake in this technical task, it was an interesting challenge. I tried to approach it as I would at my current workplace, however I understand that Artificial Labs may have a different approach. I am more than willing to develop these skills within Artificial Labs.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8C8B5-F6EC-489B-BD0F-CD89A73CAB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n-GB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EA823-8519-4F9D-81FA-367313107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n-GB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FF51B-0E28-4171-AE7C-A31AAB42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GB" smtClean="0"/>
              <a:pPr rtl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0173932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419047_TF22318419_Win32" id="{DA6E7C03-7C07-46B9-8D9D-F061C4AB5C28}" vid="{0874F78C-8308-4EE6-8F19-85387B8691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D446390-8521-40A2-A462-EA068123BED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1E84A1C-2814-43A7-9448-348326113A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5BA3906-9696-4247-AC0D-DD5C26B2A70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Wise Case study data analysis</Template>
  <TotalTime>208</TotalTime>
  <Words>1416</Words>
  <Application>Microsoft Office PowerPoint</Application>
  <PresentationFormat>Widescreen</PresentationFormat>
  <Paragraphs>192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system-ui</vt:lpstr>
      <vt:lpstr>Tenorite</vt:lpstr>
      <vt:lpstr>Times New Roman</vt:lpstr>
      <vt:lpstr>Monoline</vt:lpstr>
      <vt:lpstr>Artificial Labs technical task</vt:lpstr>
      <vt:lpstr>General Data Statistics</vt:lpstr>
      <vt:lpstr>Countries distribution</vt:lpstr>
      <vt:lpstr>points distribution</vt:lpstr>
      <vt:lpstr>Price distribution</vt:lpstr>
      <vt:lpstr>Correlations</vt:lpstr>
      <vt:lpstr>Feature engineering</vt:lpstr>
      <vt:lpstr>Feature engineering</vt:lpstr>
      <vt:lpstr>Word clouds</vt:lpstr>
      <vt:lpstr>Word clouds</vt:lpstr>
      <vt:lpstr>NLP Features</vt:lpstr>
      <vt:lpstr>LLM powered NLP Features</vt:lpstr>
      <vt:lpstr>Modelling</vt:lpstr>
      <vt:lpstr>Models descriptions</vt:lpstr>
      <vt:lpstr>Models descriptions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Valery Gasparyan</dc:creator>
  <cp:lastModifiedBy>Valery Gasparyan</cp:lastModifiedBy>
  <cp:revision>2</cp:revision>
  <dcterms:created xsi:type="dcterms:W3CDTF">2025-02-12T20:06:25Z</dcterms:created>
  <dcterms:modified xsi:type="dcterms:W3CDTF">2025-02-12T23:35:10Z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